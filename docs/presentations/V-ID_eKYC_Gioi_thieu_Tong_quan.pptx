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3333413" cy="74993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6360" y="299160"/>
            <a:ext cx="11999520" cy="125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vi-V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66360" y="1754640"/>
            <a:ext cx="1199952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vi-V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vi-V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vi-V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vi-V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vi-V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vi-V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vi-V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/>
          <p:cNvSpPr/>
          <p:nvPr/>
        </p:nvSpPr>
        <p:spPr>
          <a:xfrm>
            <a:off x="8300160" y="0"/>
            <a:ext cx="5039640" cy="7499520"/>
          </a:xfrm>
          <a:prstGeom prst="rect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Shape"/>
          <p:cNvSpPr/>
          <p:nvPr/>
        </p:nvSpPr>
        <p:spPr>
          <a:xfrm>
            <a:off x="8949960" y="720000"/>
            <a:ext cx="3749760" cy="5899680"/>
          </a:xfrm>
          <a:prstGeom prst="roundRect">
            <a:avLst>
              <a:gd name="adj" fmla="val 16667"/>
            </a:avLst>
          </a:prstGeom>
          <a:solidFill>
            <a:srgbClr val="AD10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Shape"/>
          <p:cNvSpPr/>
          <p:nvPr/>
        </p:nvSpPr>
        <p:spPr>
          <a:xfrm>
            <a:off x="9270000" y="1080000"/>
            <a:ext cx="3119760" cy="517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"/>
          <p:cNvSpPr/>
          <p:nvPr/>
        </p:nvSpPr>
        <p:spPr>
          <a:xfrm>
            <a:off x="9550080" y="1429920"/>
            <a:ext cx="2559600" cy="479520"/>
          </a:xfrm>
          <a:prstGeom prst="roundRect">
            <a:avLst>
              <a:gd name="adj" fmla="val 16667"/>
            </a:avLst>
          </a:prstGeom>
          <a:solidFill>
            <a:srgbClr val="F7F7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"/>
          <p:cNvSpPr/>
          <p:nvPr/>
        </p:nvSpPr>
        <p:spPr>
          <a:xfrm>
            <a:off x="9550080" y="2130120"/>
            <a:ext cx="2559600" cy="1949760"/>
          </a:xfrm>
          <a:prstGeom prst="roundRect">
            <a:avLst>
              <a:gd name="adj" fmla="val 16667"/>
            </a:avLst>
          </a:prstGeom>
          <a:solidFill>
            <a:srgbClr val="F7F7F8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Circle 7"/>
          <p:cNvSpPr/>
          <p:nvPr/>
        </p:nvSpPr>
        <p:spPr>
          <a:xfrm>
            <a:off x="10509840" y="2729880"/>
            <a:ext cx="639720" cy="63972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"/>
          <p:cNvSpPr/>
          <p:nvPr/>
        </p:nvSpPr>
        <p:spPr>
          <a:xfrm>
            <a:off x="9550080" y="4349880"/>
            <a:ext cx="2559600" cy="519480"/>
          </a:xfrm>
          <a:prstGeom prst="roundRect">
            <a:avLst>
              <a:gd name="adj" fmla="val 16667"/>
            </a:avLst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"/>
          <p:cNvSpPr/>
          <p:nvPr/>
        </p:nvSpPr>
        <p:spPr>
          <a:xfrm>
            <a:off x="9550080" y="5130000"/>
            <a:ext cx="1159560" cy="71964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"/>
          <p:cNvSpPr/>
          <p:nvPr/>
        </p:nvSpPr>
        <p:spPr>
          <a:xfrm>
            <a:off x="10950120" y="5130000"/>
            <a:ext cx="1159560" cy="719640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"/>
          <p:cNvSpPr/>
          <p:nvPr/>
        </p:nvSpPr>
        <p:spPr>
          <a:xfrm>
            <a:off x="720000" y="619920"/>
            <a:ext cx="219960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21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V-</a:t>
            </a:r>
            <a:r>
              <a:rPr lang="vi-VN" sz="21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ID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"/>
          <p:cNvSpPr/>
          <p:nvPr/>
        </p:nvSpPr>
        <p:spPr>
          <a:xfrm>
            <a:off x="720000" y="1130040"/>
            <a:ext cx="479520" cy="54720"/>
          </a:xfrm>
          <a:prstGeom prst="rect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"/>
          <p:cNvSpPr/>
          <p:nvPr/>
        </p:nvSpPr>
        <p:spPr>
          <a:xfrm>
            <a:off x="720000" y="2049840"/>
            <a:ext cx="56995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GIỚI THIỆU DỰ ÁN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"/>
          <p:cNvSpPr/>
          <p:nvPr/>
        </p:nvSpPr>
        <p:spPr>
          <a:xfrm>
            <a:off x="720000" y="2480040"/>
            <a:ext cx="689976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38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eKYC cho V-ID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"/>
          <p:cNvSpPr/>
          <p:nvPr/>
        </p:nvSpPr>
        <p:spPr>
          <a:xfrm>
            <a:off x="740160" y="3449880"/>
            <a:ext cx="6649560" cy="10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180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Tự chủ năng lực kỹ thuật nội bộ qua một luồng định danh số đa kênh.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"/>
          <p:cNvSpPr/>
          <p:nvPr/>
        </p:nvSpPr>
        <p:spPr>
          <a:xfrm>
            <a:off x="740160" y="5249880"/>
            <a:ext cx="1619640" cy="31968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"/>
          <p:cNvSpPr/>
          <p:nvPr/>
        </p:nvSpPr>
        <p:spPr>
          <a:xfrm>
            <a:off x="740160" y="5325120"/>
            <a:ext cx="161964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TECHNICAL DEMO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"/>
          <p:cNvSpPr/>
          <p:nvPr/>
        </p:nvSpPr>
        <p:spPr>
          <a:xfrm>
            <a:off x="740160" y="6450120"/>
            <a:ext cx="239976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0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Tháng 08 /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"/>
          <p:cNvSpPr/>
          <p:nvPr/>
        </p:nvSpPr>
        <p:spPr>
          <a:xfrm>
            <a:off x="740160" y="6779880"/>
            <a:ext cx="64998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Tổng quan • Kiến trúc • Luồng • Hệ thống mô hình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/>
          <p:cNvSpPr/>
          <p:nvPr/>
        </p:nvSpPr>
        <p:spPr>
          <a:xfrm>
            <a:off x="720000" y="420120"/>
            <a:ext cx="6699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5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01 • BỐI CẢNH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"/>
          <p:cNvSpPr/>
          <p:nvPr/>
        </p:nvSpPr>
        <p:spPr>
          <a:xfrm>
            <a:off x="720000" y="759960"/>
            <a:ext cx="117997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29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Dự án đang giải quyết điều gì?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"/>
          <p:cNvSpPr/>
          <p:nvPr/>
        </p:nvSpPr>
        <p:spPr>
          <a:xfrm>
            <a:off x="740160" y="1379880"/>
            <a:ext cx="1139976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Tạo một nền tảng eKYC có thể tích hợp V-ID qua API ổn định, nhưng vẫn độc lập với UI và model cụ thể.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"/>
          <p:cNvSpPr/>
          <p:nvPr/>
        </p:nvSpPr>
        <p:spPr>
          <a:xfrm>
            <a:off x="720000" y="2049840"/>
            <a:ext cx="3749760" cy="237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"/>
          <p:cNvSpPr/>
          <p:nvPr/>
        </p:nvSpPr>
        <p:spPr>
          <a:xfrm>
            <a:off x="720000" y="2049840"/>
            <a:ext cx="54720" cy="2379600"/>
          </a:xfrm>
          <a:prstGeom prst="roundRect">
            <a:avLst>
              <a:gd name="adj" fmla="val 16667"/>
            </a:avLst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Circle 7"/>
          <p:cNvSpPr/>
          <p:nvPr/>
        </p:nvSpPr>
        <p:spPr>
          <a:xfrm>
            <a:off x="1000080" y="2329920"/>
            <a:ext cx="479520" cy="479520"/>
          </a:xfrm>
          <a:prstGeom prst="ellipse">
            <a:avLst/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3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"/>
          <p:cNvSpPr/>
          <p:nvPr/>
        </p:nvSpPr>
        <p:spPr>
          <a:xfrm>
            <a:off x="1620000" y="2329920"/>
            <a:ext cx="25995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TRẢI NGHIỆM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"/>
          <p:cNvSpPr/>
          <p:nvPr/>
        </p:nvSpPr>
        <p:spPr>
          <a:xfrm>
            <a:off x="1620000" y="2630160"/>
            <a:ext cx="25995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6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Một phiên — nhiều điểm chạm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"/>
          <p:cNvSpPr/>
          <p:nvPr/>
        </p:nvSpPr>
        <p:spPr>
          <a:xfrm>
            <a:off x="1620000" y="3188160"/>
            <a:ext cx="2529720" cy="11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6000"/>
              </a:lnSpc>
              <a:tabLst>
                <a:tab pos="0" algn="l"/>
              </a:tabLst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Desktop khởi tạo và theo dõi. Mobile nhận phiên qua QR dùng một lần. Admin xử lý hồ sơ cần xem xét.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"/>
          <p:cNvSpPr/>
          <p:nvPr/>
        </p:nvSpPr>
        <p:spPr>
          <a:xfrm>
            <a:off x="4780080" y="2049840"/>
            <a:ext cx="3749760" cy="237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"/>
          <p:cNvSpPr/>
          <p:nvPr/>
        </p:nvSpPr>
        <p:spPr>
          <a:xfrm>
            <a:off x="4780080" y="2049840"/>
            <a:ext cx="54720" cy="2379600"/>
          </a:xfrm>
          <a:prstGeom prst="roundRect">
            <a:avLst>
              <a:gd name="adj" fmla="val 16667"/>
            </a:avLst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Circle 13"/>
          <p:cNvSpPr/>
          <p:nvPr/>
        </p:nvSpPr>
        <p:spPr>
          <a:xfrm>
            <a:off x="5060160" y="2329920"/>
            <a:ext cx="479520" cy="479520"/>
          </a:xfrm>
          <a:prstGeom prst="ellipse">
            <a:avLst/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3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"/>
          <p:cNvSpPr/>
          <p:nvPr/>
        </p:nvSpPr>
        <p:spPr>
          <a:xfrm>
            <a:off x="5680080" y="2329920"/>
            <a:ext cx="25995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AI PIPELINE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"/>
          <p:cNvSpPr/>
          <p:nvPr/>
        </p:nvSpPr>
        <p:spPr>
          <a:xfrm>
            <a:off x="5680080" y="2630160"/>
            <a:ext cx="25995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6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Model cụ thể theo capability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"/>
          <p:cNvSpPr/>
          <p:nvPr/>
        </p:nvSpPr>
        <p:spPr>
          <a:xfrm>
            <a:off x="5680080" y="3224160"/>
            <a:ext cx="2529720" cy="11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6000"/>
              </a:lnSpc>
              <a:tabLst>
                <a:tab pos="0" algn="l"/>
              </a:tabLst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OCR/MRZ, selfie, voice và audio-video được tích hợp thành pipeline có contract thống nhất.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"/>
          <p:cNvSpPr/>
          <p:nvPr/>
        </p:nvSpPr>
        <p:spPr>
          <a:xfrm>
            <a:off x="8840160" y="2049840"/>
            <a:ext cx="3749760" cy="237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"/>
          <p:cNvSpPr/>
          <p:nvPr/>
        </p:nvSpPr>
        <p:spPr>
          <a:xfrm>
            <a:off x="8840160" y="2049840"/>
            <a:ext cx="54720" cy="2379600"/>
          </a:xfrm>
          <a:prstGeom prst="roundRect">
            <a:avLst>
              <a:gd name="adj" fmla="val 16667"/>
            </a:avLst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Circle 19"/>
          <p:cNvSpPr/>
          <p:nvPr/>
        </p:nvSpPr>
        <p:spPr>
          <a:xfrm>
            <a:off x="9119880" y="2329920"/>
            <a:ext cx="479520" cy="479520"/>
          </a:xfrm>
          <a:prstGeom prst="ellipse">
            <a:avLst/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3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"/>
          <p:cNvSpPr/>
          <p:nvPr/>
        </p:nvSpPr>
        <p:spPr>
          <a:xfrm>
            <a:off x="9740160" y="2329920"/>
            <a:ext cx="25995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VẬN HÀNH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"/>
          <p:cNvSpPr/>
          <p:nvPr/>
        </p:nvSpPr>
        <p:spPr>
          <a:xfrm>
            <a:off x="9740160" y="2630160"/>
            <a:ext cx="259956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6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Offline + evidence + review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"/>
          <p:cNvSpPr/>
          <p:nvPr/>
        </p:nvSpPr>
        <p:spPr>
          <a:xfrm>
            <a:off x="9740160" y="3224160"/>
            <a:ext cx="2529720" cy="11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6000"/>
              </a:lnSpc>
              <a:tabLst>
                <a:tab pos="0" algn="l"/>
              </a:tabLst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Model chạy từ local path; evidence đi qua storage port; kết quả được chuyển tới manual review.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"/>
          <p:cNvSpPr/>
          <p:nvPr/>
        </p:nvSpPr>
        <p:spPr>
          <a:xfrm>
            <a:off x="720000" y="4830120"/>
            <a:ext cx="11869560" cy="1649520"/>
          </a:xfrm>
          <a:prstGeom prst="roundRect">
            <a:avLst>
              <a:gd name="adj" fmla="val 16667"/>
            </a:avLst>
          </a:prstGeom>
          <a:solidFill>
            <a:srgbClr val="1717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"/>
          <p:cNvSpPr/>
          <p:nvPr/>
        </p:nvSpPr>
        <p:spPr>
          <a:xfrm>
            <a:off x="1040040" y="5130000"/>
            <a:ext cx="3199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FF8D91"/>
                </a:solidFill>
                <a:effectLst/>
                <a:uFillTx/>
                <a:latin typeface="Arial"/>
                <a:ea typeface="Arial"/>
              </a:rPr>
              <a:t>ĐỊNH HƯỚNG SẢN PHẨM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"/>
          <p:cNvSpPr/>
          <p:nvPr/>
        </p:nvSpPr>
        <p:spPr>
          <a:xfrm>
            <a:off x="1040040" y="5479920"/>
            <a:ext cx="504972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Tự chủ năng lực kỹ thuật nội bộ cho V-ID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Connector 26"/>
          <p:cNvCxnSpPr/>
          <p:nvPr/>
        </p:nvCxnSpPr>
        <p:spPr>
          <a:xfrm>
            <a:off x="6399720" y="5149800"/>
            <a:ext cx="360" cy="1000440"/>
          </a:xfrm>
          <a:prstGeom prst="straightConnector1">
            <a:avLst/>
          </a:prstGeom>
          <a:ln w="10000">
            <a:solidFill>
              <a:srgbClr val="45454A"/>
            </a:solidFill>
            <a:round/>
          </a:ln>
        </p:spPr>
      </p:cxnSp>
      <p:sp>
        <p:nvSpPr>
          <p:cNvPr id="47" name="Text"/>
          <p:cNvSpPr/>
          <p:nvPr/>
        </p:nvSpPr>
        <p:spPr>
          <a:xfrm>
            <a:off x="6779880" y="5249880"/>
            <a:ext cx="5249520" cy="7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1200" b="0" u="none" strike="noStrike">
                <a:solidFill>
                  <a:srgbClr val="D6D6D9"/>
                </a:solidFill>
                <a:effectLst/>
                <a:uFillTx/>
                <a:latin typeface="Arial"/>
                <a:ea typeface="Arial"/>
              </a:rPr>
              <a:t>Ba trụ cột: orchestration &amp; API contract • AI pipeline • offline/evidence/manual 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8" name="Connector 28"/>
          <p:cNvCxnSpPr/>
          <p:nvPr/>
        </p:nvCxnSpPr>
        <p:spPr>
          <a:xfrm>
            <a:off x="720000" y="7119720"/>
            <a:ext cx="11900160" cy="360"/>
          </a:xfrm>
          <a:prstGeom prst="straightConnector1">
            <a:avLst/>
          </a:prstGeom>
          <a:ln w="8000">
            <a:solidFill>
              <a:srgbClr val="E8E8EB"/>
            </a:solidFill>
            <a:round/>
          </a:ln>
        </p:spPr>
      </p:cxnSp>
      <p:sp>
        <p:nvSpPr>
          <p:cNvPr id="49" name="Text"/>
          <p:cNvSpPr/>
          <p:nvPr/>
        </p:nvSpPr>
        <p:spPr>
          <a:xfrm>
            <a:off x="720000" y="7200000"/>
            <a:ext cx="499968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7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V-ID eKYC  •  Technical demo nội bộ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"/>
          <p:cNvSpPr/>
          <p:nvPr/>
        </p:nvSpPr>
        <p:spPr>
          <a:xfrm>
            <a:off x="12150000" y="7179840"/>
            <a:ext cx="44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"/>
          <p:cNvSpPr/>
          <p:nvPr/>
        </p:nvSpPr>
        <p:spPr>
          <a:xfrm>
            <a:off x="720000" y="420120"/>
            <a:ext cx="6699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5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02 • TRẢI NGHIỆM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"/>
          <p:cNvSpPr/>
          <p:nvPr/>
        </p:nvSpPr>
        <p:spPr>
          <a:xfrm>
            <a:off x="720000" y="759960"/>
            <a:ext cx="117997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29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Ba điểm chạm, dùng chung một session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"/>
          <p:cNvSpPr/>
          <p:nvPr/>
        </p:nvSpPr>
        <p:spPr>
          <a:xfrm>
            <a:off x="740160" y="1379880"/>
            <a:ext cx="1139976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Frontend được thiết kế mới theo nhận diện V-ID; polling và webhook cùng quan sát một state machine.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"/>
          <p:cNvSpPr/>
          <p:nvPr/>
        </p:nvSpPr>
        <p:spPr>
          <a:xfrm>
            <a:off x="720000" y="2019960"/>
            <a:ext cx="3569760" cy="361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Circle 6"/>
          <p:cNvSpPr/>
          <p:nvPr/>
        </p:nvSpPr>
        <p:spPr>
          <a:xfrm>
            <a:off x="1040040" y="2340000"/>
            <a:ext cx="639720" cy="639720"/>
          </a:xfrm>
          <a:prstGeom prst="ellipse">
            <a:avLst/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8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"/>
          <p:cNvSpPr/>
          <p:nvPr/>
        </p:nvSpPr>
        <p:spPr>
          <a:xfrm>
            <a:off x="1900080" y="2390040"/>
            <a:ext cx="194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KHỞI TẠO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"/>
          <p:cNvSpPr/>
          <p:nvPr/>
        </p:nvSpPr>
        <p:spPr>
          <a:xfrm>
            <a:off x="1040040" y="3179880"/>
            <a:ext cx="29494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8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Desktop / V-ID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"/>
          <p:cNvSpPr/>
          <p:nvPr/>
        </p:nvSpPr>
        <p:spPr>
          <a:xfrm>
            <a:off x="1059840" y="3819960"/>
            <a:ext cx="2919600" cy="13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0000" indent="-119880">
              <a:lnSpc>
                <a:spcPct val="120000"/>
              </a:lnSpc>
              <a:buClr>
                <a:srgbClr val="6F7077"/>
              </a:buClr>
              <a:buFont typeface="Symbol" charset="2"/>
              <a:buChar char=""/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Tạo session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19880">
              <a:lnSpc>
                <a:spcPct val="120000"/>
              </a:lnSpc>
              <a:buClr>
                <a:srgbClr val="6F7077"/>
              </a:buClr>
              <a:buFont typeface="Symbol" charset="2"/>
              <a:buChar char=""/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Hiển thị / tạo lại / revoke QR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19880">
              <a:lnSpc>
                <a:spcPct val="120000"/>
              </a:lnSpc>
              <a:buClr>
                <a:srgbClr val="6F7077"/>
              </a:buClr>
              <a:buFont typeface="Symbol" charset="2"/>
              <a:buChar char=""/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Theo dõi trạng thái bằng polling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"/>
          <p:cNvSpPr/>
          <p:nvPr/>
        </p:nvSpPr>
        <p:spPr>
          <a:xfrm>
            <a:off x="4770000" y="2019960"/>
            <a:ext cx="3569760" cy="361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ircle 11"/>
          <p:cNvSpPr/>
          <p:nvPr/>
        </p:nvSpPr>
        <p:spPr>
          <a:xfrm>
            <a:off x="5090040" y="2340000"/>
            <a:ext cx="639720" cy="639720"/>
          </a:xfrm>
          <a:prstGeom prst="ellipse">
            <a:avLst/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8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"/>
          <p:cNvSpPr/>
          <p:nvPr/>
        </p:nvSpPr>
        <p:spPr>
          <a:xfrm>
            <a:off x="5950080" y="2390040"/>
            <a:ext cx="194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THU THẬP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"/>
          <p:cNvSpPr/>
          <p:nvPr/>
        </p:nvSpPr>
        <p:spPr>
          <a:xfrm>
            <a:off x="5090040" y="3179880"/>
            <a:ext cx="29494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8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Mobile web capture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"/>
          <p:cNvSpPr/>
          <p:nvPr/>
        </p:nvSpPr>
        <p:spPr>
          <a:xfrm>
            <a:off x="5109840" y="3819960"/>
            <a:ext cx="2919600" cy="13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0000" indent="-119880">
              <a:lnSpc>
                <a:spcPct val="120000"/>
              </a:lnSpc>
              <a:buClr>
                <a:srgbClr val="6F7077"/>
              </a:buClr>
              <a:buFont typeface="Symbol" charset="2"/>
              <a:buChar char=""/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Claim QR dùng một lần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19880">
              <a:lnSpc>
                <a:spcPct val="120000"/>
              </a:lnSpc>
              <a:buClr>
                <a:srgbClr val="6F7077"/>
              </a:buClr>
              <a:buFont typeface="Symbol" charset="2"/>
              <a:buChar char=""/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Chụp CCCD hoặc passport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19880">
              <a:lnSpc>
                <a:spcPct val="120000"/>
              </a:lnSpc>
              <a:buClr>
                <a:srgbClr val="6F7077"/>
              </a:buClr>
              <a:buFont typeface="Symbol" charset="2"/>
              <a:buChar char=""/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Selfie + voice challenge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"/>
          <p:cNvSpPr/>
          <p:nvPr/>
        </p:nvSpPr>
        <p:spPr>
          <a:xfrm>
            <a:off x="8820000" y="2019960"/>
            <a:ext cx="3569760" cy="361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Circle 16"/>
          <p:cNvSpPr/>
          <p:nvPr/>
        </p:nvSpPr>
        <p:spPr>
          <a:xfrm>
            <a:off x="9140040" y="2340000"/>
            <a:ext cx="639720" cy="639720"/>
          </a:xfrm>
          <a:prstGeom prst="ellipse">
            <a:avLst/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8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"/>
          <p:cNvSpPr/>
          <p:nvPr/>
        </p:nvSpPr>
        <p:spPr>
          <a:xfrm>
            <a:off x="10000080" y="2390040"/>
            <a:ext cx="194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XEM XÉT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"/>
          <p:cNvSpPr/>
          <p:nvPr/>
        </p:nvSpPr>
        <p:spPr>
          <a:xfrm>
            <a:off x="9140040" y="3179880"/>
            <a:ext cx="29494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8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Admin / Reviewer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"/>
          <p:cNvSpPr/>
          <p:nvPr/>
        </p:nvSpPr>
        <p:spPr>
          <a:xfrm>
            <a:off x="9159840" y="3819960"/>
            <a:ext cx="2919600" cy="13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0000" indent="-119880">
              <a:lnSpc>
                <a:spcPct val="120000"/>
              </a:lnSpc>
              <a:buClr>
                <a:srgbClr val="6F7077"/>
              </a:buClr>
              <a:buFont typeface="Symbol" charset="2"/>
              <a:buChar char=""/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Hồ sơ được mask mặc định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19880">
              <a:lnSpc>
                <a:spcPct val="120000"/>
              </a:lnSpc>
              <a:buClr>
                <a:srgbClr val="6F7077"/>
              </a:buClr>
              <a:buFont typeface="Symbol" charset="2"/>
              <a:buChar char=""/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Xem reason code và signal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19880">
              <a:lnSpc>
                <a:spcPct val="120000"/>
              </a:lnSpc>
              <a:buClr>
                <a:srgbClr val="6F7077"/>
              </a:buClr>
              <a:buFont typeface="Symbol" charset="2"/>
              <a:buChar char=""/>
            </a:pPr>
            <a:r>
              <a:rPr lang="vi-VN" sz="10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Quyết định có phân quyền + audit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Connector 20"/>
          <p:cNvCxnSpPr/>
          <p:nvPr/>
        </p:nvCxnSpPr>
        <p:spPr>
          <a:xfrm>
            <a:off x="4289760" y="3799800"/>
            <a:ext cx="430560" cy="360"/>
          </a:xfrm>
          <a:prstGeom prst="straightConnector1">
            <a:avLst/>
          </a:prstGeom>
          <a:ln w="17000">
            <a:solidFill>
              <a:srgbClr val="D71920"/>
            </a:solidFill>
            <a:round/>
            <a:tailEnd len="med" type="triangle" w="med"/>
          </a:ln>
        </p:spPr>
      </p:cxnSp>
      <p:cxnSp>
        <p:nvCxnSpPr>
          <p:cNvPr id="70" name="Connector 21"/>
          <p:cNvCxnSpPr/>
          <p:nvPr/>
        </p:nvCxnSpPr>
        <p:spPr>
          <a:xfrm>
            <a:off x="8339760" y="3799800"/>
            <a:ext cx="430560" cy="360"/>
          </a:xfrm>
          <a:prstGeom prst="straightConnector1">
            <a:avLst/>
          </a:prstGeom>
          <a:ln w="17000">
            <a:solidFill>
              <a:srgbClr val="D71920"/>
            </a:solidFill>
            <a:round/>
            <a:tailEnd len="med" type="triangle" w="med"/>
          </a:ln>
        </p:spPr>
      </p:cxnSp>
      <p:sp>
        <p:nvSpPr>
          <p:cNvPr id="71" name="Shape"/>
          <p:cNvSpPr/>
          <p:nvPr/>
        </p:nvSpPr>
        <p:spPr>
          <a:xfrm>
            <a:off x="2440080" y="5979960"/>
            <a:ext cx="8429760" cy="63972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"/>
          <p:cNvSpPr/>
          <p:nvPr/>
        </p:nvSpPr>
        <p:spPr>
          <a:xfrm>
            <a:off x="2720160" y="6199920"/>
            <a:ext cx="78696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10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Một flow chung hỗ trợ CCCD và Passport ICAO TD3; document analyzer xử lý nhánh tương ứng.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Connector 24"/>
          <p:cNvCxnSpPr/>
          <p:nvPr/>
        </p:nvCxnSpPr>
        <p:spPr>
          <a:xfrm>
            <a:off x="720000" y="7119720"/>
            <a:ext cx="11900160" cy="360"/>
          </a:xfrm>
          <a:prstGeom prst="straightConnector1">
            <a:avLst/>
          </a:prstGeom>
          <a:ln w="8000">
            <a:solidFill>
              <a:srgbClr val="E8E8EB"/>
            </a:solidFill>
            <a:round/>
          </a:ln>
        </p:spPr>
      </p:cxnSp>
      <p:sp>
        <p:nvSpPr>
          <p:cNvPr id="74" name="Text"/>
          <p:cNvSpPr/>
          <p:nvPr/>
        </p:nvSpPr>
        <p:spPr>
          <a:xfrm>
            <a:off x="720000" y="7200000"/>
            <a:ext cx="499968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7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V-ID eKYC  •  Technical demo nội bộ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"/>
          <p:cNvSpPr/>
          <p:nvPr/>
        </p:nvSpPr>
        <p:spPr>
          <a:xfrm>
            <a:off x="12150000" y="7179840"/>
            <a:ext cx="44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"/>
          <p:cNvSpPr/>
          <p:nvPr/>
        </p:nvSpPr>
        <p:spPr>
          <a:xfrm>
            <a:off x="720000" y="420120"/>
            <a:ext cx="6699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5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03 • LUỒNG EKYC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"/>
          <p:cNvSpPr/>
          <p:nvPr/>
        </p:nvSpPr>
        <p:spPr>
          <a:xfrm>
            <a:off x="720000" y="759960"/>
            <a:ext cx="117997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29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Từ QR đến manual review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"/>
          <p:cNvSpPr/>
          <p:nvPr/>
        </p:nvSpPr>
        <p:spPr>
          <a:xfrm>
            <a:off x="740160" y="1379880"/>
            <a:ext cx="1139976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Một hành trình liền mạch; loại giấy tờ chỉ làm thay đổi nhánh capture và document analyzer.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" name="Connector 5"/>
          <p:cNvCxnSpPr/>
          <p:nvPr/>
        </p:nvCxnSpPr>
        <p:spPr>
          <a:xfrm>
            <a:off x="1099800" y="3019680"/>
            <a:ext cx="10880280" cy="360"/>
          </a:xfrm>
          <a:prstGeom prst="straightConnector1">
            <a:avLst/>
          </a:prstGeom>
          <a:ln w="19000">
            <a:solidFill>
              <a:srgbClr val="E3B5B7"/>
            </a:solidFill>
            <a:round/>
          </a:ln>
        </p:spPr>
      </p:cxnSp>
      <p:sp>
        <p:nvSpPr>
          <p:cNvPr id="80" name="Circle 6"/>
          <p:cNvSpPr/>
          <p:nvPr/>
        </p:nvSpPr>
        <p:spPr>
          <a:xfrm>
            <a:off x="720000" y="2670120"/>
            <a:ext cx="699480" cy="69948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"/>
          <p:cNvSpPr/>
          <p:nvPr/>
        </p:nvSpPr>
        <p:spPr>
          <a:xfrm>
            <a:off x="460080" y="3629880"/>
            <a:ext cx="12196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11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Tạo phiên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"/>
          <p:cNvSpPr/>
          <p:nvPr/>
        </p:nvSpPr>
        <p:spPr>
          <a:xfrm>
            <a:off x="360000" y="4039920"/>
            <a:ext cx="1419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Session + QR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ircle 9"/>
          <p:cNvSpPr/>
          <p:nvPr/>
        </p:nvSpPr>
        <p:spPr>
          <a:xfrm>
            <a:off x="2419920" y="2670120"/>
            <a:ext cx="699480" cy="69948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"/>
          <p:cNvSpPr/>
          <p:nvPr/>
        </p:nvSpPr>
        <p:spPr>
          <a:xfrm>
            <a:off x="2160000" y="3629880"/>
            <a:ext cx="12196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11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Claim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"/>
          <p:cNvSpPr/>
          <p:nvPr/>
        </p:nvSpPr>
        <p:spPr>
          <a:xfrm>
            <a:off x="2059920" y="4039920"/>
            <a:ext cx="1419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Token 1 lần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ircle 12"/>
          <p:cNvSpPr/>
          <p:nvPr/>
        </p:nvSpPr>
        <p:spPr>
          <a:xfrm>
            <a:off x="4119840" y="2670120"/>
            <a:ext cx="699480" cy="69948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"/>
          <p:cNvSpPr/>
          <p:nvPr/>
        </p:nvSpPr>
        <p:spPr>
          <a:xfrm>
            <a:off x="3859920" y="3629880"/>
            <a:ext cx="12196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11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Giấy tờ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"/>
          <p:cNvSpPr/>
          <p:nvPr/>
        </p:nvSpPr>
        <p:spPr>
          <a:xfrm>
            <a:off x="3759840" y="4039920"/>
            <a:ext cx="1419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CCCD / TD3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ircle 15"/>
          <p:cNvSpPr/>
          <p:nvPr/>
        </p:nvSpPr>
        <p:spPr>
          <a:xfrm>
            <a:off x="5820120" y="2670120"/>
            <a:ext cx="699480" cy="69948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"/>
          <p:cNvSpPr/>
          <p:nvPr/>
        </p:nvSpPr>
        <p:spPr>
          <a:xfrm>
            <a:off x="5559840" y="3629880"/>
            <a:ext cx="12196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11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Thử thách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"/>
          <p:cNvSpPr/>
          <p:nvPr/>
        </p:nvSpPr>
        <p:spPr>
          <a:xfrm>
            <a:off x="5460120" y="4039920"/>
            <a:ext cx="1419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Quay mặt + đọc số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ircle 18"/>
          <p:cNvSpPr/>
          <p:nvPr/>
        </p:nvSpPr>
        <p:spPr>
          <a:xfrm>
            <a:off x="7520040" y="2670120"/>
            <a:ext cx="699480" cy="69948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"/>
          <p:cNvSpPr/>
          <p:nvPr/>
        </p:nvSpPr>
        <p:spPr>
          <a:xfrm>
            <a:off x="7260120" y="3629880"/>
            <a:ext cx="12196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11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Phân tích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"/>
          <p:cNvSpPr/>
          <p:nvPr/>
        </p:nvSpPr>
        <p:spPr>
          <a:xfrm>
            <a:off x="7160040" y="4039920"/>
            <a:ext cx="1419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AI chạy offline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ircle 21"/>
          <p:cNvSpPr/>
          <p:nvPr/>
        </p:nvSpPr>
        <p:spPr>
          <a:xfrm>
            <a:off x="9219960" y="2670120"/>
            <a:ext cx="699480" cy="699480"/>
          </a:xfrm>
          <a:prstGeom prst="ellipse">
            <a:avLst/>
          </a:prstGeom>
          <a:solidFill>
            <a:srgbClr val="1717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"/>
          <p:cNvSpPr/>
          <p:nvPr/>
        </p:nvSpPr>
        <p:spPr>
          <a:xfrm>
            <a:off x="8960040" y="3629880"/>
            <a:ext cx="12196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11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Tổng hợp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"/>
          <p:cNvSpPr/>
          <p:nvPr/>
        </p:nvSpPr>
        <p:spPr>
          <a:xfrm>
            <a:off x="8859960" y="4039920"/>
            <a:ext cx="1419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Signal + reason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ircle 24"/>
          <p:cNvSpPr/>
          <p:nvPr/>
        </p:nvSpPr>
        <p:spPr>
          <a:xfrm>
            <a:off x="10919880" y="2670120"/>
            <a:ext cx="699480" cy="699480"/>
          </a:xfrm>
          <a:prstGeom prst="ellipse">
            <a:avLst/>
          </a:prstGeom>
          <a:solidFill>
            <a:srgbClr val="1717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07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"/>
          <p:cNvSpPr/>
          <p:nvPr/>
        </p:nvSpPr>
        <p:spPr>
          <a:xfrm>
            <a:off x="10659960" y="3629880"/>
            <a:ext cx="12196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11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"/>
          <p:cNvSpPr/>
          <p:nvPr/>
        </p:nvSpPr>
        <p:spPr>
          <a:xfrm>
            <a:off x="10559880" y="4039920"/>
            <a:ext cx="1419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Con người quyết định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"/>
          <p:cNvSpPr/>
          <p:nvPr/>
        </p:nvSpPr>
        <p:spPr>
          <a:xfrm>
            <a:off x="720000" y="4920120"/>
            <a:ext cx="5619600" cy="1379520"/>
          </a:xfrm>
          <a:prstGeom prst="roundRect">
            <a:avLst>
              <a:gd name="adj" fmla="val 16667"/>
            </a:avLst>
          </a:prstGeom>
          <a:solidFill>
            <a:srgbClr val="F7F7F8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"/>
          <p:cNvSpPr/>
          <p:nvPr/>
        </p:nvSpPr>
        <p:spPr>
          <a:xfrm>
            <a:off x="1019880" y="5190120"/>
            <a:ext cx="159948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NHÁNH GIẤY TỜ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"/>
          <p:cNvSpPr/>
          <p:nvPr/>
        </p:nvSpPr>
        <p:spPr>
          <a:xfrm>
            <a:off x="1019880" y="5559840"/>
            <a:ext cx="48495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1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Hỗ trợ CCCD và Passport ICAO TD3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"/>
          <p:cNvSpPr/>
          <p:nvPr/>
        </p:nvSpPr>
        <p:spPr>
          <a:xfrm>
            <a:off x="1019880" y="5919840"/>
            <a:ext cx="48495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3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Document analyzer xử lý nhánh tương ứng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"/>
          <p:cNvSpPr/>
          <p:nvPr/>
        </p:nvSpPr>
        <p:spPr>
          <a:xfrm>
            <a:off x="6649920" y="4920120"/>
            <a:ext cx="5939640" cy="1379520"/>
          </a:xfrm>
          <a:prstGeom prst="roundRect">
            <a:avLst>
              <a:gd name="adj" fmla="val 16667"/>
            </a:avLst>
          </a:prstGeom>
          <a:solidFill>
            <a:srgbClr val="1717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"/>
          <p:cNvSpPr/>
          <p:nvPr/>
        </p:nvSpPr>
        <p:spPr>
          <a:xfrm>
            <a:off x="6959880" y="5190120"/>
            <a:ext cx="159948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FF8D91"/>
                </a:solidFill>
                <a:effectLst/>
                <a:uFillTx/>
                <a:latin typeface="Arial"/>
                <a:ea typeface="Arial"/>
              </a:rPr>
              <a:t>KẾT QUẢ DEMO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"/>
          <p:cNvSpPr/>
          <p:nvPr/>
        </p:nvSpPr>
        <p:spPr>
          <a:xfrm>
            <a:off x="6959880" y="5550120"/>
            <a:ext cx="209952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MANUAL_REVIEW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"/>
          <p:cNvSpPr/>
          <p:nvPr/>
        </p:nvSpPr>
        <p:spPr>
          <a:xfrm>
            <a:off x="9050040" y="5569920"/>
            <a:ext cx="299952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50" b="1" u="none" strike="noStrike">
                <a:solidFill>
                  <a:srgbClr val="D6D6D9"/>
                </a:solidFill>
                <a:effectLst/>
                <a:uFillTx/>
                <a:latin typeface="Arial"/>
                <a:ea typeface="Arial"/>
              </a:rPr>
              <a:t>hoặc MODEL / PROCESSING UNAVAILABLE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"/>
          <p:cNvSpPr/>
          <p:nvPr/>
        </p:nvSpPr>
        <p:spPr>
          <a:xfrm>
            <a:off x="1320120" y="6480000"/>
            <a:ext cx="10679760" cy="45972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9000">
            <a:solidFill>
              <a:srgbClr val="FFF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"/>
          <p:cNvSpPr/>
          <p:nvPr/>
        </p:nvSpPr>
        <p:spPr>
          <a:xfrm>
            <a:off x="1540080" y="6590160"/>
            <a:ext cx="102196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92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LƯU TRỮ &amp; XÓA  •  Dữ liệu sinh trắc học trung gian được xóa sau xử lý; evidence lưu theo retention policy.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Connector 37"/>
          <p:cNvCxnSpPr/>
          <p:nvPr/>
        </p:nvCxnSpPr>
        <p:spPr>
          <a:xfrm>
            <a:off x="720000" y="7119720"/>
            <a:ext cx="11900160" cy="360"/>
          </a:xfrm>
          <a:prstGeom prst="straightConnector1">
            <a:avLst/>
          </a:prstGeom>
          <a:ln w="8000">
            <a:solidFill>
              <a:srgbClr val="E8E8EB"/>
            </a:solidFill>
            <a:round/>
          </a:ln>
        </p:spPr>
      </p:cxnSp>
      <p:sp>
        <p:nvSpPr>
          <p:cNvPr id="112" name="Text"/>
          <p:cNvSpPr/>
          <p:nvPr/>
        </p:nvSpPr>
        <p:spPr>
          <a:xfrm>
            <a:off x="720000" y="7200000"/>
            <a:ext cx="499968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7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V-ID eKYC  •  Technical demo nội bộ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"/>
          <p:cNvSpPr/>
          <p:nvPr/>
        </p:nvSpPr>
        <p:spPr>
          <a:xfrm>
            <a:off x="12150000" y="7179840"/>
            <a:ext cx="44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"/>
          <p:cNvSpPr/>
          <p:nvPr/>
        </p:nvSpPr>
        <p:spPr>
          <a:xfrm>
            <a:off x="720000" y="420120"/>
            <a:ext cx="6699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5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04 • KIẾN TRÚC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"/>
          <p:cNvSpPr/>
          <p:nvPr/>
        </p:nvSpPr>
        <p:spPr>
          <a:xfrm>
            <a:off x="720000" y="759960"/>
            <a:ext cx="117997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29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Luồng eKYC theo thiết kế đích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"/>
          <p:cNvSpPr/>
          <p:nvPr/>
        </p:nvSpPr>
        <p:spPr>
          <a:xfrm>
            <a:off x="740160" y="1379880"/>
            <a:ext cx="1139976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Các khối chính phối hợp quanh session state machine; frontend và implementation AI là các adapter phía sau contract.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"/>
          <p:cNvSpPr/>
          <p:nvPr/>
        </p:nvSpPr>
        <p:spPr>
          <a:xfrm>
            <a:off x="720000" y="2120040"/>
            <a:ext cx="3549600" cy="129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ircle 6"/>
          <p:cNvSpPr/>
          <p:nvPr/>
        </p:nvSpPr>
        <p:spPr>
          <a:xfrm>
            <a:off x="969840" y="2400120"/>
            <a:ext cx="439560" cy="43956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"/>
          <p:cNvSpPr/>
          <p:nvPr/>
        </p:nvSpPr>
        <p:spPr>
          <a:xfrm>
            <a:off x="1580040" y="2400120"/>
            <a:ext cx="23497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Session API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"/>
          <p:cNvSpPr/>
          <p:nvPr/>
        </p:nvSpPr>
        <p:spPr>
          <a:xfrm>
            <a:off x="1580040" y="2750040"/>
            <a:ext cx="2349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Tạo </a:t>
            </a: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session • </a:t>
            </a: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QR / </a:t>
            </a: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handoff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"/>
          <p:cNvSpPr/>
          <p:nvPr/>
        </p:nvSpPr>
        <p:spPr>
          <a:xfrm>
            <a:off x="4799880" y="2120040"/>
            <a:ext cx="3549600" cy="129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ircle 10"/>
          <p:cNvSpPr/>
          <p:nvPr/>
        </p:nvSpPr>
        <p:spPr>
          <a:xfrm>
            <a:off x="5050080" y="2400120"/>
            <a:ext cx="439560" cy="43956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"/>
          <p:cNvSpPr/>
          <p:nvPr/>
        </p:nvSpPr>
        <p:spPr>
          <a:xfrm>
            <a:off x="5659920" y="2400120"/>
            <a:ext cx="23497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Capture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"/>
          <p:cNvSpPr/>
          <p:nvPr/>
        </p:nvSpPr>
        <p:spPr>
          <a:xfrm>
            <a:off x="5659920" y="2750040"/>
            <a:ext cx="2349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CCCD hoặc Passport TD3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"/>
          <p:cNvSpPr/>
          <p:nvPr/>
        </p:nvSpPr>
        <p:spPr>
          <a:xfrm>
            <a:off x="8880120" y="2120040"/>
            <a:ext cx="3549600" cy="129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ircle 14"/>
          <p:cNvSpPr/>
          <p:nvPr/>
        </p:nvSpPr>
        <p:spPr>
          <a:xfrm>
            <a:off x="9129960" y="2400120"/>
            <a:ext cx="439560" cy="43956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"/>
          <p:cNvSpPr/>
          <p:nvPr/>
        </p:nvSpPr>
        <p:spPr>
          <a:xfrm>
            <a:off x="9740160" y="2400120"/>
            <a:ext cx="23497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Document analyzer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"/>
          <p:cNvSpPr/>
          <p:nvPr/>
        </p:nvSpPr>
        <p:spPr>
          <a:xfrm>
            <a:off x="9740160" y="2750040"/>
            <a:ext cx="2349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Quality • OCR • MRZ • face crop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"/>
          <p:cNvSpPr/>
          <p:nvPr/>
        </p:nvSpPr>
        <p:spPr>
          <a:xfrm>
            <a:off x="720000" y="4070160"/>
            <a:ext cx="3549600" cy="129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ircle 18"/>
          <p:cNvSpPr/>
          <p:nvPr/>
        </p:nvSpPr>
        <p:spPr>
          <a:xfrm>
            <a:off x="969840" y="4349880"/>
            <a:ext cx="439560" cy="43956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"/>
          <p:cNvSpPr/>
          <p:nvPr/>
        </p:nvSpPr>
        <p:spPr>
          <a:xfrm>
            <a:off x="1580040" y="4349880"/>
            <a:ext cx="23497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Biometric analyzer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"/>
          <p:cNvSpPr/>
          <p:nvPr/>
        </p:nvSpPr>
        <p:spPr>
          <a:xfrm>
            <a:off x="1580040" y="4700160"/>
            <a:ext cx="2349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Face match • liveness • voice • deepfake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"/>
          <p:cNvSpPr/>
          <p:nvPr/>
        </p:nvSpPr>
        <p:spPr>
          <a:xfrm>
            <a:off x="4799880" y="4070160"/>
            <a:ext cx="3549600" cy="129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ircle 22"/>
          <p:cNvSpPr/>
          <p:nvPr/>
        </p:nvSpPr>
        <p:spPr>
          <a:xfrm>
            <a:off x="5050080" y="4349880"/>
            <a:ext cx="439560" cy="43956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"/>
          <p:cNvSpPr/>
          <p:nvPr/>
        </p:nvSpPr>
        <p:spPr>
          <a:xfrm>
            <a:off x="5659920" y="4349880"/>
            <a:ext cx="23497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Decision signal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"/>
          <p:cNvSpPr/>
          <p:nvPr/>
        </p:nvSpPr>
        <p:spPr>
          <a:xfrm>
            <a:off x="5659920" y="4700160"/>
            <a:ext cx="2349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Policy + reason code • confidence / provenance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"/>
          <p:cNvSpPr/>
          <p:nvPr/>
        </p:nvSpPr>
        <p:spPr>
          <a:xfrm>
            <a:off x="8880120" y="4070160"/>
            <a:ext cx="3549600" cy="1299600"/>
          </a:xfrm>
          <a:prstGeom prst="roundRect">
            <a:avLst>
              <a:gd name="adj" fmla="val 16667"/>
            </a:avLst>
          </a:prstGeom>
          <a:solidFill>
            <a:srgbClr val="171719"/>
          </a:solidFill>
          <a:ln w="9000">
            <a:solidFill>
              <a:srgbClr val="1717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Circle 26"/>
          <p:cNvSpPr/>
          <p:nvPr/>
        </p:nvSpPr>
        <p:spPr>
          <a:xfrm>
            <a:off x="9129960" y="4349880"/>
            <a:ext cx="439560" cy="43956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"/>
          <p:cNvSpPr/>
          <p:nvPr/>
        </p:nvSpPr>
        <p:spPr>
          <a:xfrm>
            <a:off x="9740160" y="4349880"/>
            <a:ext cx="23497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Manual 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"/>
          <p:cNvSpPr/>
          <p:nvPr/>
        </p:nvSpPr>
        <p:spPr>
          <a:xfrm>
            <a:off x="9740160" y="4700160"/>
            <a:ext cx="2349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C7C7CB"/>
                </a:solidFill>
                <a:effectLst/>
                <a:uFillTx/>
                <a:latin typeface="Arial"/>
                <a:ea typeface="Arial"/>
              </a:rPr>
              <a:t>Mask mặc định • reviewer quyết định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Connector 29"/>
          <p:cNvCxnSpPr/>
          <p:nvPr/>
        </p:nvCxnSpPr>
        <p:spPr>
          <a:xfrm>
            <a:off x="4289760" y="2779920"/>
            <a:ext cx="310320" cy="360"/>
          </a:xfrm>
          <a:prstGeom prst="straightConnector1">
            <a:avLst/>
          </a:prstGeom>
          <a:ln w="15000">
            <a:solidFill>
              <a:srgbClr val="D71920"/>
            </a:solidFill>
            <a:round/>
            <a:tailEnd len="med" type="triangle" w="med"/>
          </a:ln>
        </p:spPr>
      </p:cxnSp>
      <p:cxnSp>
        <p:nvCxnSpPr>
          <p:cNvPr id="142" name="Connector 30"/>
          <p:cNvCxnSpPr/>
          <p:nvPr/>
        </p:nvCxnSpPr>
        <p:spPr>
          <a:xfrm>
            <a:off x="8370000" y="2779920"/>
            <a:ext cx="310320" cy="360"/>
          </a:xfrm>
          <a:prstGeom prst="straightConnector1">
            <a:avLst/>
          </a:prstGeom>
          <a:ln w="15000">
            <a:solidFill>
              <a:srgbClr val="D71920"/>
            </a:solidFill>
            <a:round/>
            <a:tailEnd len="med" type="triangle" w="med"/>
          </a:ln>
        </p:spPr>
      </p:cxnSp>
      <p:cxnSp>
        <p:nvCxnSpPr>
          <p:cNvPr id="143" name="Connector 31"/>
          <p:cNvCxnSpPr/>
          <p:nvPr/>
        </p:nvCxnSpPr>
        <p:spPr>
          <a:xfrm>
            <a:off x="4289760" y="4729680"/>
            <a:ext cx="310320" cy="360"/>
          </a:xfrm>
          <a:prstGeom prst="straightConnector1">
            <a:avLst/>
          </a:prstGeom>
          <a:ln w="15000">
            <a:solidFill>
              <a:srgbClr val="D71920"/>
            </a:solidFill>
            <a:round/>
            <a:tailEnd len="med" type="triangle" w="med"/>
          </a:ln>
        </p:spPr>
      </p:cxnSp>
      <p:cxnSp>
        <p:nvCxnSpPr>
          <p:cNvPr id="144" name="Connector 32"/>
          <p:cNvCxnSpPr/>
          <p:nvPr/>
        </p:nvCxnSpPr>
        <p:spPr>
          <a:xfrm>
            <a:off x="8370000" y="4729680"/>
            <a:ext cx="310320" cy="360"/>
          </a:xfrm>
          <a:prstGeom prst="straightConnector1">
            <a:avLst/>
          </a:prstGeom>
          <a:ln w="15000">
            <a:solidFill>
              <a:srgbClr val="D71920"/>
            </a:solidFill>
            <a:round/>
            <a:tailEnd len="med" type="triangle" w="med"/>
          </a:ln>
        </p:spPr>
      </p:cxnSp>
      <p:sp>
        <p:nvSpPr>
          <p:cNvPr id="145" name="Shape"/>
          <p:cNvSpPr/>
          <p:nvPr/>
        </p:nvSpPr>
        <p:spPr>
          <a:xfrm>
            <a:off x="720000" y="6220080"/>
            <a:ext cx="11869560" cy="449640"/>
          </a:xfrm>
          <a:prstGeom prst="roundRect">
            <a:avLst>
              <a:gd name="adj" fmla="val 16667"/>
            </a:avLst>
          </a:prstGeom>
          <a:solidFill>
            <a:srgbClr val="F7F7F8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"/>
          <p:cNvSpPr/>
          <p:nvPr/>
        </p:nvSpPr>
        <p:spPr>
          <a:xfrm>
            <a:off x="1000080" y="6369840"/>
            <a:ext cx="112996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88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Ports phía sau contract: evidence storage • queue/orchestrator • AI adapters • polling/webhook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Connector 35"/>
          <p:cNvCxnSpPr/>
          <p:nvPr/>
        </p:nvCxnSpPr>
        <p:spPr>
          <a:xfrm>
            <a:off x="720000" y="7119720"/>
            <a:ext cx="11900160" cy="360"/>
          </a:xfrm>
          <a:prstGeom prst="straightConnector1">
            <a:avLst/>
          </a:prstGeom>
          <a:ln w="8000">
            <a:solidFill>
              <a:srgbClr val="E8E8EB"/>
            </a:solidFill>
            <a:round/>
          </a:ln>
        </p:spPr>
      </p:cxnSp>
      <p:sp>
        <p:nvSpPr>
          <p:cNvPr id="148" name="Text"/>
          <p:cNvSpPr/>
          <p:nvPr/>
        </p:nvSpPr>
        <p:spPr>
          <a:xfrm>
            <a:off x="720000" y="7200000"/>
            <a:ext cx="499968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7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V-ID eKYC  •  Technical demo nội bộ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"/>
          <p:cNvSpPr/>
          <p:nvPr/>
        </p:nvSpPr>
        <p:spPr>
          <a:xfrm>
            <a:off x="12150000" y="7179840"/>
            <a:ext cx="44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"/>
          <p:cNvSpPr/>
          <p:nvPr/>
        </p:nvSpPr>
        <p:spPr>
          <a:xfrm>
            <a:off x="720000" y="420120"/>
            <a:ext cx="6699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5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05 • HỆ THỐNG MÔ HÌNH AI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"/>
          <p:cNvSpPr/>
          <p:nvPr/>
        </p:nvSpPr>
        <p:spPr>
          <a:xfrm>
            <a:off x="720000" y="759960"/>
            <a:ext cx="117997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29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Nhiều capability, một contract phân tích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"/>
          <p:cNvSpPr/>
          <p:nvPr/>
        </p:nvSpPr>
        <p:spPr>
          <a:xfrm>
            <a:off x="740160" y="1379880"/>
            <a:ext cx="1139976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Mỗi capability trả execution status, review signal, metric và reason code — không tự đưa ra quyết định danh tính.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"/>
          <p:cNvSpPr/>
          <p:nvPr/>
        </p:nvSpPr>
        <p:spPr>
          <a:xfrm>
            <a:off x="720000" y="2019960"/>
            <a:ext cx="3749760" cy="391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Circle 6"/>
          <p:cNvSpPr/>
          <p:nvPr/>
        </p:nvSpPr>
        <p:spPr>
          <a:xfrm>
            <a:off x="1019880" y="2319840"/>
            <a:ext cx="499680" cy="49968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1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"/>
          <p:cNvSpPr/>
          <p:nvPr/>
        </p:nvSpPr>
        <p:spPr>
          <a:xfrm>
            <a:off x="1699920" y="2430000"/>
            <a:ext cx="234972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GIẤY TỜ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"/>
          <p:cNvSpPr/>
          <p:nvPr/>
        </p:nvSpPr>
        <p:spPr>
          <a:xfrm>
            <a:off x="1040040" y="3060000"/>
            <a:ext cx="2949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7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YOLO11 layout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"/>
          <p:cNvSpPr/>
          <p:nvPr/>
        </p:nvSpPr>
        <p:spPr>
          <a:xfrm>
            <a:off x="1040040" y="3369960"/>
            <a:ext cx="29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CCCD • layout &amp; vùng thông tin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Connector 10"/>
          <p:cNvCxnSpPr/>
          <p:nvPr/>
        </p:nvCxnSpPr>
        <p:spPr>
          <a:xfrm>
            <a:off x="1039680" y="3739680"/>
            <a:ext cx="3080520" cy="360"/>
          </a:xfrm>
          <a:prstGeom prst="straightConnector1">
            <a:avLst/>
          </a:prstGeom>
          <a:ln w="7000">
            <a:solidFill>
              <a:srgbClr val="E8E8EB"/>
            </a:solidFill>
            <a:round/>
          </a:ln>
        </p:spPr>
      </p:cxnSp>
      <p:sp>
        <p:nvSpPr>
          <p:cNvPr id="159" name="Text"/>
          <p:cNvSpPr/>
          <p:nvPr/>
        </p:nvSpPr>
        <p:spPr>
          <a:xfrm>
            <a:off x="1040040" y="3920040"/>
            <a:ext cx="2949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7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RapidOCR PP-OCRv6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"/>
          <p:cNvSpPr/>
          <p:nvPr/>
        </p:nvSpPr>
        <p:spPr>
          <a:xfrm>
            <a:off x="1040040" y="4230000"/>
            <a:ext cx="29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CCCD/Passport • OCR text &amp; MRZ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1" name="Connector 13"/>
          <p:cNvCxnSpPr/>
          <p:nvPr/>
        </p:nvCxnSpPr>
        <p:spPr>
          <a:xfrm>
            <a:off x="1039680" y="4599720"/>
            <a:ext cx="3080520" cy="360"/>
          </a:xfrm>
          <a:prstGeom prst="straightConnector1">
            <a:avLst/>
          </a:prstGeom>
          <a:ln w="7000">
            <a:solidFill>
              <a:srgbClr val="E8E8EB"/>
            </a:solidFill>
            <a:round/>
          </a:ln>
        </p:spPr>
      </p:cxnSp>
      <p:sp>
        <p:nvSpPr>
          <p:cNvPr id="162" name="Text"/>
          <p:cNvSpPr/>
          <p:nvPr/>
        </p:nvSpPr>
        <p:spPr>
          <a:xfrm>
            <a:off x="1040040" y="4780080"/>
            <a:ext cx="2949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7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MRZ parser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"/>
          <p:cNvSpPr/>
          <p:nvPr/>
        </p:nvSpPr>
        <p:spPr>
          <a:xfrm>
            <a:off x="1040040" y="5090040"/>
            <a:ext cx="29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Passport TD3 • 2 × 44 &amp; check digit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"/>
          <p:cNvSpPr/>
          <p:nvPr/>
        </p:nvSpPr>
        <p:spPr>
          <a:xfrm>
            <a:off x="4780080" y="2019960"/>
            <a:ext cx="3749760" cy="391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ircle 17"/>
          <p:cNvSpPr/>
          <p:nvPr/>
        </p:nvSpPr>
        <p:spPr>
          <a:xfrm>
            <a:off x="5079960" y="2319840"/>
            <a:ext cx="499680" cy="499680"/>
          </a:xfrm>
          <a:prstGeom prst="ellipse">
            <a:avLst/>
          </a:prstGeom>
          <a:solidFill>
            <a:srgbClr val="2532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1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"/>
          <p:cNvSpPr/>
          <p:nvPr/>
        </p:nvSpPr>
        <p:spPr>
          <a:xfrm>
            <a:off x="5760000" y="2430000"/>
            <a:ext cx="234972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25324A"/>
                </a:solidFill>
                <a:effectLst/>
                <a:uFillTx/>
                <a:latin typeface="Arial"/>
                <a:ea typeface="Arial"/>
              </a:rPr>
              <a:t>KHUÔN MẶT &amp; VIDEO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"/>
          <p:cNvSpPr/>
          <p:nvPr/>
        </p:nvSpPr>
        <p:spPr>
          <a:xfrm>
            <a:off x="5100120" y="3060000"/>
            <a:ext cx="2949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7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SCRFD + ArcFace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"/>
          <p:cNvSpPr/>
          <p:nvPr/>
        </p:nvSpPr>
        <p:spPr>
          <a:xfrm>
            <a:off x="5100120" y="3369960"/>
            <a:ext cx="29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Selfie • detect, align &amp; face match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9" name="Connector 21"/>
          <p:cNvCxnSpPr/>
          <p:nvPr/>
        </p:nvCxnSpPr>
        <p:spPr>
          <a:xfrm>
            <a:off x="5099760" y="3739680"/>
            <a:ext cx="3080520" cy="360"/>
          </a:xfrm>
          <a:prstGeom prst="straightConnector1">
            <a:avLst/>
          </a:prstGeom>
          <a:ln w="7000">
            <a:solidFill>
              <a:srgbClr val="E8E8EB"/>
            </a:solidFill>
            <a:round/>
          </a:ln>
        </p:spPr>
      </p:cxnSp>
      <p:sp>
        <p:nvSpPr>
          <p:cNvPr id="170" name="Text"/>
          <p:cNvSpPr/>
          <p:nvPr/>
        </p:nvSpPr>
        <p:spPr>
          <a:xfrm>
            <a:off x="5100120" y="3920040"/>
            <a:ext cx="2949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7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MiniFASNetV2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"/>
          <p:cNvSpPr/>
          <p:nvPr/>
        </p:nvSpPr>
        <p:spPr>
          <a:xfrm>
            <a:off x="5100120" y="4230000"/>
            <a:ext cx="29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Selfie • passive liveness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2" name="Connector 24"/>
          <p:cNvCxnSpPr/>
          <p:nvPr/>
        </p:nvCxnSpPr>
        <p:spPr>
          <a:xfrm>
            <a:off x="5099760" y="4599720"/>
            <a:ext cx="3080520" cy="360"/>
          </a:xfrm>
          <a:prstGeom prst="straightConnector1">
            <a:avLst/>
          </a:prstGeom>
          <a:ln w="7000">
            <a:solidFill>
              <a:srgbClr val="E8E8EB"/>
            </a:solidFill>
            <a:round/>
          </a:ln>
        </p:spPr>
      </p:cxnSp>
      <p:sp>
        <p:nvSpPr>
          <p:cNvPr id="173" name="Text"/>
          <p:cNvSpPr/>
          <p:nvPr/>
        </p:nvSpPr>
        <p:spPr>
          <a:xfrm>
            <a:off x="5100120" y="4780080"/>
            <a:ext cx="2949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7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Deep-Fake-Detector-v2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"/>
          <p:cNvSpPr/>
          <p:nvPr/>
        </p:nvSpPr>
        <p:spPr>
          <a:xfrm>
            <a:off x="5100120" y="5090040"/>
            <a:ext cx="29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Selfie video • visual deepfake signal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"/>
          <p:cNvSpPr/>
          <p:nvPr/>
        </p:nvSpPr>
        <p:spPr>
          <a:xfrm>
            <a:off x="8840160" y="2019960"/>
            <a:ext cx="3749760" cy="391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Circle 28"/>
          <p:cNvSpPr/>
          <p:nvPr/>
        </p:nvSpPr>
        <p:spPr>
          <a:xfrm>
            <a:off x="9140040" y="2319840"/>
            <a:ext cx="499680" cy="499680"/>
          </a:xfrm>
          <a:prstGeom prst="ellipse">
            <a:avLst/>
          </a:prstGeom>
          <a:solidFill>
            <a:srgbClr val="137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1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"/>
          <p:cNvSpPr/>
          <p:nvPr/>
        </p:nvSpPr>
        <p:spPr>
          <a:xfrm>
            <a:off x="9820080" y="2430000"/>
            <a:ext cx="234972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137A4A"/>
                </a:solidFill>
                <a:effectLst/>
                <a:uFillTx/>
                <a:latin typeface="Arial"/>
                <a:ea typeface="Arial"/>
              </a:rPr>
              <a:t>GIỌNG NÓI &amp; A/V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"/>
          <p:cNvSpPr/>
          <p:nvPr/>
        </p:nvSpPr>
        <p:spPr>
          <a:xfrm>
            <a:off x="9159840" y="3060000"/>
            <a:ext cx="2949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7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Vosk Vietnamese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"/>
          <p:cNvSpPr/>
          <p:nvPr/>
        </p:nvSpPr>
        <p:spPr>
          <a:xfrm>
            <a:off x="9159840" y="3369960"/>
            <a:ext cx="29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Voice • đọc và kiểm tra challenge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" name="Connector 32"/>
          <p:cNvCxnSpPr/>
          <p:nvPr/>
        </p:nvCxnSpPr>
        <p:spPr>
          <a:xfrm>
            <a:off x="9159840" y="3739680"/>
            <a:ext cx="3080520" cy="360"/>
          </a:xfrm>
          <a:prstGeom prst="straightConnector1">
            <a:avLst/>
          </a:prstGeom>
          <a:ln w="7000">
            <a:solidFill>
              <a:srgbClr val="E8E8EB"/>
            </a:solidFill>
            <a:round/>
          </a:ln>
        </p:spPr>
      </p:cxnSp>
      <p:sp>
        <p:nvSpPr>
          <p:cNvPr id="181" name="Text"/>
          <p:cNvSpPr/>
          <p:nvPr/>
        </p:nvSpPr>
        <p:spPr>
          <a:xfrm>
            <a:off x="9159840" y="3920040"/>
            <a:ext cx="2949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7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SyncNetV2 + S3FD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"/>
          <p:cNvSpPr/>
          <p:nvPr/>
        </p:nvSpPr>
        <p:spPr>
          <a:xfrm>
            <a:off x="9159840" y="4230000"/>
            <a:ext cx="29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Audio-video • lip-sync signal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3" name="Connector 35"/>
          <p:cNvCxnSpPr/>
          <p:nvPr/>
        </p:nvCxnSpPr>
        <p:spPr>
          <a:xfrm>
            <a:off x="9159840" y="4599720"/>
            <a:ext cx="3080520" cy="360"/>
          </a:xfrm>
          <a:prstGeom prst="straightConnector1">
            <a:avLst/>
          </a:prstGeom>
          <a:ln w="7000">
            <a:solidFill>
              <a:srgbClr val="E8E8EB"/>
            </a:solidFill>
            <a:round/>
          </a:ln>
        </p:spPr>
      </p:cxnSp>
      <p:sp>
        <p:nvSpPr>
          <p:cNvPr id="184" name="Text"/>
          <p:cNvSpPr/>
          <p:nvPr/>
        </p:nvSpPr>
        <p:spPr>
          <a:xfrm>
            <a:off x="9159840" y="4780080"/>
            <a:ext cx="2949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7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Replay / injection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"/>
          <p:cNvSpPr/>
          <p:nvPr/>
        </p:nvSpPr>
        <p:spPr>
          <a:xfrm>
            <a:off x="9159840" y="5090040"/>
            <a:ext cx="2999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2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Selfie video • heuristic signal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"/>
          <p:cNvSpPr/>
          <p:nvPr/>
        </p:nvSpPr>
        <p:spPr>
          <a:xfrm>
            <a:off x="2149920" y="6400080"/>
            <a:ext cx="901980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8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MODEL ANALYSIS CONTRACT 1.2  →  execution_status  •  review_signal  •  score/metric  •  reason_code  •  provenance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7" name="Connector 40"/>
          <p:cNvCxnSpPr/>
          <p:nvPr/>
        </p:nvCxnSpPr>
        <p:spPr>
          <a:xfrm>
            <a:off x="720000" y="7119720"/>
            <a:ext cx="11900160" cy="360"/>
          </a:xfrm>
          <a:prstGeom prst="straightConnector1">
            <a:avLst/>
          </a:prstGeom>
          <a:ln w="8000">
            <a:solidFill>
              <a:srgbClr val="E8E8EB"/>
            </a:solidFill>
            <a:round/>
          </a:ln>
        </p:spPr>
      </p:cxnSp>
      <p:sp>
        <p:nvSpPr>
          <p:cNvPr id="188" name="Text"/>
          <p:cNvSpPr/>
          <p:nvPr/>
        </p:nvSpPr>
        <p:spPr>
          <a:xfrm>
            <a:off x="720000" y="7200000"/>
            <a:ext cx="499968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7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V-ID eKYC  •  Technical demo nội bộ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"/>
          <p:cNvSpPr/>
          <p:nvPr/>
        </p:nvSpPr>
        <p:spPr>
          <a:xfrm>
            <a:off x="12150000" y="7179840"/>
            <a:ext cx="44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"/>
          <p:cNvSpPr/>
          <p:nvPr/>
        </p:nvSpPr>
        <p:spPr>
          <a:xfrm>
            <a:off x="720000" y="420120"/>
            <a:ext cx="6699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5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06 • VẬN HÀNH AI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"/>
          <p:cNvSpPr/>
          <p:nvPr/>
        </p:nvSpPr>
        <p:spPr>
          <a:xfrm>
            <a:off x="720000" y="759960"/>
            <a:ext cx="117997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29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Pipeline AI chạy offline, có quản trị model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"/>
          <p:cNvSpPr/>
          <p:nvPr/>
        </p:nvSpPr>
        <p:spPr>
          <a:xfrm>
            <a:off x="740160" y="1379880"/>
            <a:ext cx="1139976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Cùng một manifest phục vụ local setup và Docker build; runtime chỉ đọc artifact đã pin.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"/>
          <p:cNvSpPr/>
          <p:nvPr/>
        </p:nvSpPr>
        <p:spPr>
          <a:xfrm>
            <a:off x="720000" y="2180160"/>
            <a:ext cx="2079720" cy="25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Circle 6"/>
          <p:cNvSpPr/>
          <p:nvPr/>
        </p:nvSpPr>
        <p:spPr>
          <a:xfrm>
            <a:off x="920160" y="2400120"/>
            <a:ext cx="419760" cy="41976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"/>
          <p:cNvSpPr/>
          <p:nvPr/>
        </p:nvSpPr>
        <p:spPr>
          <a:xfrm>
            <a:off x="920160" y="3080160"/>
            <a:ext cx="16495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Manifest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"/>
          <p:cNvSpPr/>
          <p:nvPr/>
        </p:nvSpPr>
        <p:spPr>
          <a:xfrm>
            <a:off x="920160" y="3589920"/>
            <a:ext cx="16797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Nguồn • revision • SHA-256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license • approval • scope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7" name="Connector 9"/>
          <p:cNvCxnSpPr/>
          <p:nvPr/>
        </p:nvCxnSpPr>
        <p:spPr>
          <a:xfrm>
            <a:off x="2799720" y="3439800"/>
            <a:ext cx="310320" cy="360"/>
          </a:xfrm>
          <a:prstGeom prst="straightConnector1">
            <a:avLst/>
          </a:prstGeom>
          <a:ln w="15000">
            <a:solidFill>
              <a:srgbClr val="D71920"/>
            </a:solidFill>
            <a:round/>
            <a:tailEnd len="med" type="triangle" w="med"/>
          </a:ln>
        </p:spPr>
      </p:cxnSp>
      <p:sp>
        <p:nvSpPr>
          <p:cNvPr id="198" name="Shape"/>
          <p:cNvSpPr/>
          <p:nvPr/>
        </p:nvSpPr>
        <p:spPr>
          <a:xfrm>
            <a:off x="3150000" y="2180160"/>
            <a:ext cx="2079720" cy="25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Circle 11"/>
          <p:cNvSpPr/>
          <p:nvPr/>
        </p:nvSpPr>
        <p:spPr>
          <a:xfrm>
            <a:off x="3350160" y="2400120"/>
            <a:ext cx="419760" cy="41976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"/>
          <p:cNvSpPr/>
          <p:nvPr/>
        </p:nvSpPr>
        <p:spPr>
          <a:xfrm>
            <a:off x="3350160" y="3080160"/>
            <a:ext cx="16495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Downloader / build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"/>
          <p:cNvSpPr/>
          <p:nvPr/>
        </p:nvSpPr>
        <p:spPr>
          <a:xfrm>
            <a:off x="3350160" y="3589920"/>
            <a:ext cx="16797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Tải đủ artifact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cache + checksum + profile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2" name="Connector 14"/>
          <p:cNvCxnSpPr/>
          <p:nvPr/>
        </p:nvCxnSpPr>
        <p:spPr>
          <a:xfrm>
            <a:off x="5229720" y="3439800"/>
            <a:ext cx="310320" cy="360"/>
          </a:xfrm>
          <a:prstGeom prst="straightConnector1">
            <a:avLst/>
          </a:prstGeom>
          <a:ln w="15000">
            <a:solidFill>
              <a:srgbClr val="D71920"/>
            </a:solidFill>
            <a:round/>
            <a:tailEnd len="med" type="triangle" w="med"/>
          </a:ln>
        </p:spPr>
      </p:cxnSp>
      <p:sp>
        <p:nvSpPr>
          <p:cNvPr id="203" name="Shape"/>
          <p:cNvSpPr/>
          <p:nvPr/>
        </p:nvSpPr>
        <p:spPr>
          <a:xfrm>
            <a:off x="5580000" y="2180160"/>
            <a:ext cx="2079720" cy="25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Circle 16"/>
          <p:cNvSpPr/>
          <p:nvPr/>
        </p:nvSpPr>
        <p:spPr>
          <a:xfrm>
            <a:off x="5780160" y="2400120"/>
            <a:ext cx="419760" cy="419760"/>
          </a:xfrm>
          <a:prstGeom prst="ellipse">
            <a:avLst/>
          </a:prstGeom>
          <a:solidFill>
            <a:srgbClr val="1717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"/>
          <p:cNvSpPr/>
          <p:nvPr/>
        </p:nvSpPr>
        <p:spPr>
          <a:xfrm>
            <a:off x="5780160" y="3080160"/>
            <a:ext cx="16495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Local model store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"/>
          <p:cNvSpPr/>
          <p:nvPr/>
        </p:nvSpPr>
        <p:spPr>
          <a:xfrm>
            <a:off x="5780160" y="3589920"/>
            <a:ext cx="16797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./models/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không phụ thuộc home cache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Connector 19"/>
          <p:cNvCxnSpPr/>
          <p:nvPr/>
        </p:nvCxnSpPr>
        <p:spPr>
          <a:xfrm>
            <a:off x="7659720" y="3439800"/>
            <a:ext cx="310320" cy="360"/>
          </a:xfrm>
          <a:prstGeom prst="straightConnector1">
            <a:avLst/>
          </a:prstGeom>
          <a:ln w="15000">
            <a:solidFill>
              <a:srgbClr val="D71920"/>
            </a:solidFill>
            <a:round/>
            <a:tailEnd len="med" type="triangle" w="med"/>
          </a:ln>
        </p:spPr>
      </p:cxnSp>
      <p:sp>
        <p:nvSpPr>
          <p:cNvPr id="208" name="Shape"/>
          <p:cNvSpPr/>
          <p:nvPr/>
        </p:nvSpPr>
        <p:spPr>
          <a:xfrm>
            <a:off x="8010000" y="2180160"/>
            <a:ext cx="2079720" cy="25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Circle 21"/>
          <p:cNvSpPr/>
          <p:nvPr/>
        </p:nvSpPr>
        <p:spPr>
          <a:xfrm>
            <a:off x="8210160" y="2400120"/>
            <a:ext cx="419760" cy="41976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"/>
          <p:cNvSpPr/>
          <p:nvPr/>
        </p:nvSpPr>
        <p:spPr>
          <a:xfrm>
            <a:off x="8210160" y="3080160"/>
            <a:ext cx="16495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AI pipeline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"/>
          <p:cNvSpPr/>
          <p:nvPr/>
        </p:nvSpPr>
        <p:spPr>
          <a:xfrm>
            <a:off x="8210160" y="3589920"/>
            <a:ext cx="16797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Capability cụ thể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contract thống nhất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2" name="Connector 24"/>
          <p:cNvCxnSpPr/>
          <p:nvPr/>
        </p:nvCxnSpPr>
        <p:spPr>
          <a:xfrm>
            <a:off x="10089720" y="3439800"/>
            <a:ext cx="310320" cy="360"/>
          </a:xfrm>
          <a:prstGeom prst="straightConnector1">
            <a:avLst/>
          </a:prstGeom>
          <a:ln w="15000">
            <a:solidFill>
              <a:srgbClr val="D71920"/>
            </a:solidFill>
            <a:round/>
            <a:tailEnd len="med" type="triangle" w="med"/>
          </a:ln>
        </p:spPr>
      </p:cxnSp>
      <p:sp>
        <p:nvSpPr>
          <p:cNvPr id="213" name="Shape"/>
          <p:cNvSpPr/>
          <p:nvPr/>
        </p:nvSpPr>
        <p:spPr>
          <a:xfrm>
            <a:off x="10440000" y="2180160"/>
            <a:ext cx="2079720" cy="25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Circle 26"/>
          <p:cNvSpPr/>
          <p:nvPr/>
        </p:nvSpPr>
        <p:spPr>
          <a:xfrm>
            <a:off x="10640160" y="2400120"/>
            <a:ext cx="419760" cy="419760"/>
          </a:xfrm>
          <a:prstGeom prst="ellipse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"/>
          <p:cNvSpPr/>
          <p:nvPr/>
        </p:nvSpPr>
        <p:spPr>
          <a:xfrm>
            <a:off x="10640160" y="3080160"/>
            <a:ext cx="16495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Readiness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"/>
          <p:cNvSpPr/>
          <p:nvPr/>
        </p:nvSpPr>
        <p:spPr>
          <a:xfrm>
            <a:off x="10640160" y="3589920"/>
            <a:ext cx="16797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Thiếu required / sai hash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vi-VN" sz="8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→ fail rõ ràng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"/>
          <p:cNvSpPr/>
          <p:nvPr/>
        </p:nvSpPr>
        <p:spPr>
          <a:xfrm>
            <a:off x="720000" y="5180040"/>
            <a:ext cx="7319520" cy="123948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"/>
          <p:cNvSpPr/>
          <p:nvPr/>
        </p:nvSpPr>
        <p:spPr>
          <a:xfrm>
            <a:off x="1019880" y="5450040"/>
            <a:ext cx="171972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NGUYÊN TẮC RUNTIME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"/>
          <p:cNvSpPr/>
          <p:nvPr/>
        </p:nvSpPr>
        <p:spPr>
          <a:xfrm>
            <a:off x="1019880" y="5820120"/>
            <a:ext cx="65797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Không 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downl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oad • 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không 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fallbac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k sang 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model 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khác • 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cache 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được 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quản </a:t>
            </a:r>
            <a:r>
              <a:rPr lang="vi-VN" sz="1200" b="1" u="none" strike="noStrike">
                <a:solidFill>
                  <a:srgbClr val="AD1016"/>
                </a:solidFill>
                <a:effectLst/>
                <a:uFillTx/>
                <a:latin typeface="Arial"/>
                <a:ea typeface="Arial"/>
              </a:rPr>
              <a:t>lý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"/>
          <p:cNvSpPr/>
          <p:nvPr/>
        </p:nvSpPr>
        <p:spPr>
          <a:xfrm>
            <a:off x="8340120" y="5180040"/>
            <a:ext cx="4249800" cy="1239480"/>
          </a:xfrm>
          <a:prstGeom prst="roundRect">
            <a:avLst>
              <a:gd name="adj" fmla="val 16667"/>
            </a:avLst>
          </a:prstGeom>
          <a:solidFill>
            <a:srgbClr val="F7F7F8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"/>
          <p:cNvSpPr/>
          <p:nvPr/>
        </p:nvSpPr>
        <p:spPr>
          <a:xfrm>
            <a:off x="8640000" y="5450040"/>
            <a:ext cx="204948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TRẠNG THÁI MODEL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"/>
          <p:cNvSpPr/>
          <p:nvPr/>
        </p:nvSpPr>
        <p:spPr>
          <a:xfrm>
            <a:off x="8640000" y="5780160"/>
            <a:ext cx="35197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r>
              <a:rPr lang="vi-VN" sz="9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Model active: evaluation_only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Phạm vi: technical demo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3" name="Connector 35"/>
          <p:cNvCxnSpPr/>
          <p:nvPr/>
        </p:nvCxnSpPr>
        <p:spPr>
          <a:xfrm>
            <a:off x="720000" y="7119720"/>
            <a:ext cx="11900160" cy="360"/>
          </a:xfrm>
          <a:prstGeom prst="straightConnector1">
            <a:avLst/>
          </a:prstGeom>
          <a:ln w="8000">
            <a:solidFill>
              <a:srgbClr val="E8E8EB"/>
            </a:solidFill>
            <a:round/>
          </a:ln>
        </p:spPr>
      </p:cxnSp>
      <p:sp>
        <p:nvSpPr>
          <p:cNvPr id="224" name="Text"/>
          <p:cNvSpPr/>
          <p:nvPr/>
        </p:nvSpPr>
        <p:spPr>
          <a:xfrm>
            <a:off x="720000" y="7200000"/>
            <a:ext cx="499968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7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V-ID eKYC  •  Technical </a:t>
            </a:r>
            <a:r>
              <a:rPr lang="vi-VN" sz="7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demo nội bộ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"/>
          <p:cNvSpPr/>
          <p:nvPr/>
        </p:nvSpPr>
        <p:spPr>
          <a:xfrm>
            <a:off x="12150000" y="7179840"/>
            <a:ext cx="44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"/>
          <p:cNvSpPr/>
          <p:nvPr/>
        </p:nvSpPr>
        <p:spPr>
          <a:xfrm>
            <a:off x="720000" y="420120"/>
            <a:ext cx="6699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5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07 • TRẠNG THÁI HIỆN TẠI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"/>
          <p:cNvSpPr/>
          <p:nvPr/>
        </p:nvSpPr>
        <p:spPr>
          <a:xfrm>
            <a:off x="720000" y="759960"/>
            <a:ext cx="117997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290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Nền tảng đã có gì?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"/>
          <p:cNvSpPr/>
          <p:nvPr/>
        </p:nvSpPr>
        <p:spPr>
          <a:xfrm>
            <a:off x="740160" y="1379880"/>
            <a:ext cx="1139976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20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Luồng chính đã chạy end-to-end với synthetic / test data; các hạng mục còn lại được tách thành phần cần bổ sung.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"/>
          <p:cNvSpPr/>
          <p:nvPr/>
        </p:nvSpPr>
        <p:spPr>
          <a:xfrm>
            <a:off x="720000" y="2000160"/>
            <a:ext cx="7199640" cy="469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000">
            <a:solidFill>
              <a:srgbClr val="E8E8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"/>
          <p:cNvSpPr/>
          <p:nvPr/>
        </p:nvSpPr>
        <p:spPr>
          <a:xfrm>
            <a:off x="1050120" y="2300040"/>
            <a:ext cx="3199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137A4A"/>
                </a:solidFill>
                <a:effectLst/>
                <a:uFillTx/>
                <a:latin typeface="Arial"/>
                <a:ea typeface="Arial"/>
              </a:rPr>
              <a:t>ĐÃ TRIỂN KHAI &amp; KIỂM CHỨNG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Circle 7"/>
          <p:cNvSpPr/>
          <p:nvPr/>
        </p:nvSpPr>
        <p:spPr>
          <a:xfrm>
            <a:off x="1050120" y="2819880"/>
            <a:ext cx="299520" cy="299520"/>
          </a:xfrm>
          <a:prstGeom prst="ellipse">
            <a:avLst/>
          </a:prstGeom>
          <a:solidFill>
            <a:srgbClr val="EA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137A4A"/>
                </a:solidFill>
                <a:effectLst/>
                <a:uFillTx/>
                <a:latin typeface="Arial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"/>
          <p:cNvSpPr/>
          <p:nvPr/>
        </p:nvSpPr>
        <p:spPr>
          <a:xfrm>
            <a:off x="1519920" y="2880000"/>
            <a:ext cx="59295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4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Session state machine + QR handoff một lần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Circle 9"/>
          <p:cNvSpPr/>
          <p:nvPr/>
        </p:nvSpPr>
        <p:spPr>
          <a:xfrm>
            <a:off x="1050120" y="3369960"/>
            <a:ext cx="299520" cy="299520"/>
          </a:xfrm>
          <a:prstGeom prst="ellipse">
            <a:avLst/>
          </a:prstGeom>
          <a:solidFill>
            <a:srgbClr val="EA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137A4A"/>
                </a:solidFill>
                <a:effectLst/>
                <a:uFillTx/>
                <a:latin typeface="Arial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"/>
          <p:cNvSpPr/>
          <p:nvPr/>
        </p:nvSpPr>
        <p:spPr>
          <a:xfrm>
            <a:off x="1519920" y="3430080"/>
            <a:ext cx="59295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40" b="0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Capture CCCD / passport TD3 + voice challenge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Circle 11"/>
          <p:cNvSpPr/>
          <p:nvPr/>
        </p:nvSpPr>
        <p:spPr>
          <a:xfrm>
            <a:off x="1050120" y="3920040"/>
            <a:ext cx="299520" cy="299520"/>
          </a:xfrm>
          <a:prstGeom prst="ellipse">
            <a:avLst/>
          </a:prstGeom>
          <a:solidFill>
            <a:srgbClr val="EA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137A4A"/>
                </a:solidFill>
                <a:effectLst/>
                <a:uFillTx/>
                <a:latin typeface="Arial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"/>
          <p:cNvSpPr/>
          <p:nvPr/>
        </p:nvSpPr>
        <p:spPr>
          <a:xfrm>
            <a:off x="1519920" y="3980160"/>
            <a:ext cx="59295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40" b="0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Pipeline OCR, face, liveness, deepfake, voice, lip-sync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Circle 13"/>
          <p:cNvSpPr/>
          <p:nvPr/>
        </p:nvSpPr>
        <p:spPr>
          <a:xfrm>
            <a:off x="1050120" y="4470120"/>
            <a:ext cx="299520" cy="299520"/>
          </a:xfrm>
          <a:prstGeom prst="ellipse">
            <a:avLst/>
          </a:prstGeom>
          <a:solidFill>
            <a:srgbClr val="EA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137A4A"/>
                </a:solidFill>
                <a:effectLst/>
                <a:uFillTx/>
                <a:latin typeface="Arial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"/>
          <p:cNvSpPr/>
          <p:nvPr/>
        </p:nvSpPr>
        <p:spPr>
          <a:xfrm>
            <a:off x="1519920" y="4529880"/>
            <a:ext cx="59295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40" b="0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Evidence mã hóa, xóa an toàn, chạy lại không gây lỗi hoặc xóa nhầm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Circle 15"/>
          <p:cNvSpPr/>
          <p:nvPr/>
        </p:nvSpPr>
        <p:spPr>
          <a:xfrm>
            <a:off x="1050120" y="5019840"/>
            <a:ext cx="299520" cy="299520"/>
          </a:xfrm>
          <a:prstGeom prst="ellipse">
            <a:avLst/>
          </a:prstGeom>
          <a:solidFill>
            <a:srgbClr val="EA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137A4A"/>
                </a:solidFill>
                <a:effectLst/>
                <a:uFillTx/>
                <a:latin typeface="Arial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"/>
          <p:cNvSpPr/>
          <p:nvPr/>
        </p:nvSpPr>
        <p:spPr>
          <a:xfrm>
            <a:off x="1519920" y="5079960"/>
            <a:ext cx="59295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40" b="0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Manual review; callback chỉ gửi session, trạng thái và reason code cần thiết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Circle 17"/>
          <p:cNvSpPr/>
          <p:nvPr/>
        </p:nvSpPr>
        <p:spPr>
          <a:xfrm>
            <a:off x="1050120" y="5569920"/>
            <a:ext cx="299520" cy="299520"/>
          </a:xfrm>
          <a:prstGeom prst="ellipse">
            <a:avLst/>
          </a:prstGeom>
          <a:solidFill>
            <a:srgbClr val="EA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vi-VN" sz="900" b="1" u="none" strike="noStrike">
                <a:solidFill>
                  <a:srgbClr val="137A4A"/>
                </a:solidFill>
                <a:effectLst/>
                <a:uFillTx/>
                <a:latin typeface="Arial"/>
              </a:rPr>
              <a:t>✓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"/>
          <p:cNvSpPr/>
          <p:nvPr/>
        </p:nvSpPr>
        <p:spPr>
          <a:xfrm>
            <a:off x="1519920" y="5630040"/>
            <a:ext cx="59295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40" b="1" u="none" strike="noStrike">
                <a:solidFill>
                  <a:srgbClr val="171719"/>
                </a:solidFill>
                <a:effectLst/>
                <a:uFillTx/>
                <a:latin typeface="Arial"/>
                <a:ea typeface="Arial"/>
              </a:rPr>
              <a:t>Model manifest, checksum pin và offline runtime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"/>
          <p:cNvSpPr/>
          <p:nvPr/>
        </p:nvSpPr>
        <p:spPr>
          <a:xfrm>
            <a:off x="8219880" y="2000160"/>
            <a:ext cx="4369680" cy="4699800"/>
          </a:xfrm>
          <a:prstGeom prst="roundRect">
            <a:avLst>
              <a:gd name="adj" fmla="val 16667"/>
            </a:avLst>
          </a:prstGeom>
          <a:solidFill>
            <a:srgbClr val="1717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"/>
          <p:cNvSpPr/>
          <p:nvPr/>
        </p:nvSpPr>
        <p:spPr>
          <a:xfrm>
            <a:off x="8560080" y="2300040"/>
            <a:ext cx="3249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FF8D91"/>
                </a:solidFill>
                <a:effectLst/>
                <a:uFillTx/>
                <a:latin typeface="Arial"/>
                <a:ea typeface="Arial"/>
              </a:rPr>
              <a:t>CẦN BỔ SUNG THÊM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"/>
          <p:cNvSpPr/>
          <p:nvPr/>
        </p:nvSpPr>
        <p:spPr>
          <a:xfrm>
            <a:off x="8560080" y="2930040"/>
            <a:ext cx="35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FF8D91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"/>
          <p:cNvSpPr/>
          <p:nvPr/>
        </p:nvSpPr>
        <p:spPr>
          <a:xfrm>
            <a:off x="9119880" y="2919960"/>
            <a:ext cx="29797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Model card, license và approval reference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"/>
          <p:cNvSpPr/>
          <p:nvPr/>
        </p:nvSpPr>
        <p:spPr>
          <a:xfrm>
            <a:off x="8560080" y="3570120"/>
            <a:ext cx="35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FF8D91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"/>
          <p:cNvSpPr/>
          <p:nvPr/>
        </p:nvSpPr>
        <p:spPr>
          <a:xfrm>
            <a:off x="9119880" y="3560040"/>
            <a:ext cx="29797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Webhook outbox, retry, idempotency, signature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"/>
          <p:cNvSpPr/>
          <p:nvPr/>
        </p:nvSpPr>
        <p:spPr>
          <a:xfrm>
            <a:off x="8560080" y="4209840"/>
            <a:ext cx="35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FF8D91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"/>
          <p:cNvSpPr/>
          <p:nvPr/>
        </p:nvSpPr>
        <p:spPr>
          <a:xfrm>
            <a:off x="9119880" y="4200120"/>
            <a:ext cx="29797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Benchmark, threshold và fixture theo capability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"/>
          <p:cNvSpPr/>
          <p:nvPr/>
        </p:nvSpPr>
        <p:spPr>
          <a:xfrm>
            <a:off x="8560080" y="4849920"/>
            <a:ext cx="35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850" b="1" u="none" strike="noStrike">
                <a:solidFill>
                  <a:srgbClr val="FF8D91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"/>
          <p:cNvSpPr/>
          <p:nvPr/>
        </p:nvSpPr>
        <p:spPr>
          <a:xfrm>
            <a:off x="9119880" y="4839840"/>
            <a:ext cx="29797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Cấu hình vận hành và phân quyền đầy đủ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"/>
          <p:cNvSpPr/>
          <p:nvPr/>
        </p:nvSpPr>
        <p:spPr>
          <a:xfrm>
            <a:off x="8560080" y="6149880"/>
            <a:ext cx="324972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1000" b="1" u="none" strike="noStrike">
                <a:solidFill>
                  <a:srgbClr val="C7C7CB"/>
                </a:solidFill>
                <a:effectLst/>
                <a:uFillTx/>
                <a:latin typeface="Arial"/>
                <a:ea typeface="Arial"/>
              </a:rPr>
              <a:t>Tiếp tục hoàn thiện theo từng capability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4" name="Connector 30"/>
          <p:cNvCxnSpPr/>
          <p:nvPr/>
        </p:nvCxnSpPr>
        <p:spPr>
          <a:xfrm>
            <a:off x="720000" y="7119720"/>
            <a:ext cx="11900160" cy="360"/>
          </a:xfrm>
          <a:prstGeom prst="straightConnector1">
            <a:avLst/>
          </a:prstGeom>
          <a:ln w="8000">
            <a:solidFill>
              <a:srgbClr val="E8E8EB"/>
            </a:solidFill>
            <a:round/>
          </a:ln>
        </p:spPr>
      </p:cxnSp>
      <p:sp>
        <p:nvSpPr>
          <p:cNvPr id="255" name="Text"/>
          <p:cNvSpPr/>
          <p:nvPr/>
        </p:nvSpPr>
        <p:spPr>
          <a:xfrm>
            <a:off x="720000" y="7200000"/>
            <a:ext cx="499968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750" b="0" u="none" strike="noStrike">
                <a:solidFill>
                  <a:srgbClr val="6F7077"/>
                </a:solidFill>
                <a:effectLst/>
                <a:uFillTx/>
                <a:latin typeface="Arial"/>
                <a:ea typeface="Arial"/>
              </a:rPr>
              <a:t>V-ID eKYC  •  Technical demo nội bộ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"/>
          <p:cNvSpPr/>
          <p:nvPr/>
        </p:nvSpPr>
        <p:spPr>
          <a:xfrm>
            <a:off x="12150000" y="7179840"/>
            <a:ext cx="449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D71920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"/>
          <p:cNvSpPr/>
          <p:nvPr/>
        </p:nvSpPr>
        <p:spPr>
          <a:xfrm>
            <a:off x="0" y="0"/>
            <a:ext cx="159480" cy="7499520"/>
          </a:xfrm>
          <a:prstGeom prst="rect">
            <a:avLst/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"/>
          <p:cNvSpPr/>
          <p:nvPr/>
        </p:nvSpPr>
        <p:spPr>
          <a:xfrm>
            <a:off x="820080" y="699840"/>
            <a:ext cx="31996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000" b="1" u="none" strike="noStrike">
                <a:solidFill>
                  <a:srgbClr val="FF8D91"/>
                </a:solidFill>
                <a:effectLst/>
                <a:uFillTx/>
                <a:latin typeface="Arial"/>
                <a:ea typeface="Arial"/>
              </a:rPr>
              <a:t>DEMO &amp; Q&amp;A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"/>
          <p:cNvSpPr/>
          <p:nvPr/>
        </p:nvSpPr>
        <p:spPr>
          <a:xfrm>
            <a:off x="820080" y="1180080"/>
            <a:ext cx="7549560" cy="14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vi-VN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Demo trực tiếp và trao đổi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"/>
          <p:cNvSpPr/>
          <p:nvPr/>
        </p:nvSpPr>
        <p:spPr>
          <a:xfrm>
            <a:off x="839880" y="3300120"/>
            <a:ext cx="569952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400" b="0" u="none" strike="noStrike">
                <a:solidFill>
                  <a:srgbClr val="BFC0C5"/>
                </a:solidFill>
                <a:effectLst/>
                <a:uFillTx/>
                <a:latin typeface="Arial"/>
                <a:ea typeface="Arial"/>
              </a:rPr>
              <a:t>Phần demo sẽ được trình bày trực tiếp trên hệ thống.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"/>
          <p:cNvSpPr/>
          <p:nvPr/>
        </p:nvSpPr>
        <p:spPr>
          <a:xfrm>
            <a:off x="9780120" y="1050120"/>
            <a:ext cx="2619720" cy="2619720"/>
          </a:xfrm>
          <a:prstGeom prst="roundRect">
            <a:avLst>
              <a:gd name="adj" fmla="val 16667"/>
            </a:avLst>
          </a:prstGeom>
          <a:solidFill>
            <a:srgbClr val="D71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"/>
          <p:cNvSpPr/>
          <p:nvPr/>
        </p:nvSpPr>
        <p:spPr>
          <a:xfrm>
            <a:off x="9780120" y="1910160"/>
            <a:ext cx="26197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vi-VN" sz="3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Q&amp;A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63" name="Connector 8"/>
          <p:cNvCxnSpPr/>
          <p:nvPr/>
        </p:nvCxnSpPr>
        <p:spPr>
          <a:xfrm>
            <a:off x="819720" y="5549760"/>
            <a:ext cx="11580480" cy="360"/>
          </a:xfrm>
          <a:prstGeom prst="straightConnector1">
            <a:avLst/>
          </a:prstGeom>
          <a:ln w="9000">
            <a:solidFill>
              <a:srgbClr val="3E3E42"/>
            </a:solidFill>
            <a:round/>
          </a:ln>
        </p:spPr>
      </p:cxnSp>
      <p:sp>
        <p:nvSpPr>
          <p:cNvPr id="264" name="Text"/>
          <p:cNvSpPr/>
          <p:nvPr/>
        </p:nvSpPr>
        <p:spPr>
          <a:xfrm>
            <a:off x="820080" y="5919840"/>
            <a:ext cx="299952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900" b="1" u="none" strike="noStrike">
                <a:solidFill>
                  <a:srgbClr val="FF8D91"/>
                </a:solidFill>
                <a:effectLst/>
                <a:uFillTx/>
                <a:latin typeface="Arial"/>
                <a:ea typeface="Arial"/>
              </a:rPr>
              <a:t>Câu hỏi để cùng thảo luận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"/>
          <p:cNvSpPr/>
          <p:nvPr/>
        </p:nvSpPr>
        <p:spPr>
          <a:xfrm>
            <a:off x="820080" y="6339960"/>
            <a:ext cx="1084968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vi-VN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V-ID sẽ cùng chốt hướng phát triển sản phẩm eKYC như thế nào?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"/>
          <p:cNvSpPr/>
          <p:nvPr/>
        </p:nvSpPr>
        <p:spPr>
          <a:xfrm>
            <a:off x="12049920" y="7130160"/>
            <a:ext cx="3495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0000"/>
              </a:lnSpc>
              <a:tabLst>
                <a:tab pos="0" algn="l"/>
              </a:tabLst>
            </a:pPr>
            <a:r>
              <a:rPr lang="vi-VN" sz="800" b="1" u="none" strike="noStrike">
                <a:solidFill>
                  <a:srgbClr val="FF8D91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-ID eKYC">
  <a:themeElements>
    <a:clrScheme name="V-ID">
      <a:dk1>
        <a:srgbClr val="171719"/>
      </a:dk1>
      <a:lt1>
        <a:srgbClr val="FFFFFF"/>
      </a:lt1>
      <a:dk2>
        <a:srgbClr val="25324A"/>
      </a:dk2>
      <a:lt2>
        <a:srgbClr val="F7F7F8"/>
      </a:lt2>
      <a:accent1>
        <a:srgbClr val="D71920"/>
      </a:accent1>
      <a:accent2>
        <a:srgbClr val="137A4A"/>
      </a:accent2>
      <a:accent3>
        <a:srgbClr val="9A6100"/>
      </a:accent3>
      <a:accent4>
        <a:srgbClr val="6F7077"/>
      </a:accent4>
      <a:accent5>
        <a:srgbClr val="AD1016"/>
      </a:accent5>
      <a:accent6>
        <a:srgbClr val="E8E8EB"/>
      </a:accent6>
      <a:hlink>
        <a:srgbClr val="0563C1"/>
      </a:hlink>
      <a:folHlink>
        <a:srgbClr val="954F72"/>
      </a:folHlink>
    </a:clrScheme>
    <a:fontScheme name="V-ID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rgbClr val="FFFFFF"/>
        </a:solidFill>
        <a:solidFill>
          <a:srgbClr val="D71920"/>
        </a:solidFill>
        <a:solidFill>
          <a:srgbClr val="F7F7F8"/>
        </a:solidFill>
      </a:fillStyleLst>
      <a:lnStyleLst>
        <a:ln w="9525"/>
        <a:ln w="25400"/>
        <a:ln w="3810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F7F7F8"/>
        </a:solidFill>
        <a:solidFill>
          <a:srgbClr val="171719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LibreOffice/26.2.5.2$Linux_X86_64 LibreOffice_project/cd7284b4cbbfeb507e630c1aac019f4157393acb</Application>
  <AppVersion>15.0000</AppVersion>
  <Company>V-ID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2026-08-01T00:00:00Z</dcterms:created>
  <dc:creator>V-ID eKYC Team</dc:creator>
  <dc:description>Deck giới thiệu tổng quan cho PO và PMO, thời lượng khoảng 10 phút.</dc:description>
  <cp:keywords>V-ID eKYC technical demo architecture AI</cp:keywords>
  <dc:language>en-US</dc:language>
  <cp:lastModifiedBy/>
  <dcterms:modified xsi:type="dcterms:W3CDTF">2026-08-01T09:02:10Z</dcterms:modified>
  <cp:revision>4</cp:revision>
  <dc:subject>Technical demo nội bộ</dc:subject>
  <dc:title>Giới thiệu dự án eKYC cho V-ID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